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75" r:id="rId7"/>
    <p:sldId id="286" r:id="rId8"/>
    <p:sldId id="274" r:id="rId9"/>
    <p:sldId id="292" r:id="rId10"/>
    <p:sldId id="261" r:id="rId11"/>
    <p:sldId id="287" r:id="rId12"/>
    <p:sldId id="262" r:id="rId13"/>
    <p:sldId id="289" r:id="rId14"/>
    <p:sldId id="263" r:id="rId15"/>
    <p:sldId id="288" r:id="rId16"/>
    <p:sldId id="264" r:id="rId17"/>
    <p:sldId id="265" r:id="rId18"/>
    <p:sldId id="291" r:id="rId19"/>
    <p:sldId id="266" r:id="rId20"/>
    <p:sldId id="267" r:id="rId21"/>
    <p:sldId id="272" r:id="rId22"/>
    <p:sldId id="273" r:id="rId23"/>
    <p:sldId id="276" r:id="rId24"/>
    <p:sldId id="277" r:id="rId25"/>
    <p:sldId id="278" r:id="rId26"/>
    <p:sldId id="29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18" autoAdjust="0"/>
  </p:normalViewPr>
  <p:slideViewPr>
    <p:cSldViewPr snapToGrid="0" snapToObjects="1">
      <p:cViewPr varScale="1">
        <p:scale>
          <a:sx n="60" d="100"/>
          <a:sy n="60" d="100"/>
        </p:scale>
        <p:origin x="78" y="10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E3282-1D8F-495E-AC41-C1BDB76A1D3B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659E6-EFAB-4A7E-A277-20C28C531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66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659E6-EFAB-4A7E-A277-20C28C5314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209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65836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A EVOLUÇÃO DOS
DISPOSITIVOS DE ARMAZENAMENTO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6035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>
                <a:solidFill>
                  <a:srgbClr val="BED6E6"/>
                </a:solidFill>
                <a:latin typeface="Aptos"/>
              </a:rPr>
              <a:t>O </a:t>
            </a:r>
            <a:r>
              <a:rPr sz="1800" b="0" dirty="0" err="1">
                <a:solidFill>
                  <a:srgbClr val="BED6E6"/>
                </a:solidFill>
                <a:latin typeface="Aptos"/>
              </a:rPr>
              <a:t>impacto</a:t>
            </a:r>
            <a:r>
              <a:rPr sz="1800" b="0" dirty="0">
                <a:solidFill>
                  <a:srgbClr val="BED6E6"/>
                </a:solidFill>
                <a:latin typeface="Aptos"/>
              </a:rPr>
              <a:t> </a:t>
            </a:r>
            <a:r>
              <a:rPr sz="1800" b="0" dirty="0" smtClean="0">
                <a:solidFill>
                  <a:srgbClr val="BED6E6"/>
                </a:solidFill>
                <a:latin typeface="Aptos"/>
              </a:rPr>
              <a:t>dos </a:t>
            </a:r>
            <a:r>
              <a:rPr sz="1800" b="0" dirty="0">
                <a:solidFill>
                  <a:srgbClr val="BED6E6"/>
                </a:solidFill>
                <a:latin typeface="Aptos"/>
              </a:rPr>
              <a:t>SSDs </a:t>
            </a:r>
            <a:r>
              <a:rPr sz="1800" b="0" dirty="0" err="1">
                <a:solidFill>
                  <a:srgbClr val="BED6E6"/>
                </a:solidFill>
                <a:latin typeface="Aptos"/>
              </a:rPr>
              <a:t>NVMe</a:t>
            </a:r>
            <a:r>
              <a:rPr sz="1800" b="0" dirty="0">
                <a:solidFill>
                  <a:srgbClr val="BED6E6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BED6E6"/>
                </a:solidFill>
                <a:latin typeface="Aptos"/>
              </a:rPr>
              <a:t>na</a:t>
            </a:r>
            <a:r>
              <a:rPr sz="1800" b="0" dirty="0">
                <a:solidFill>
                  <a:srgbClr val="BED6E6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BED6E6"/>
                </a:solidFill>
                <a:latin typeface="Aptos"/>
              </a:rPr>
              <a:t>velocidade</a:t>
            </a:r>
            <a:r>
              <a:rPr sz="1800" b="0" dirty="0">
                <a:solidFill>
                  <a:srgbClr val="BED6E6"/>
                </a:solidFill>
                <a:latin typeface="Aptos"/>
              </a:rPr>
              <a:t> de </a:t>
            </a:r>
            <a:r>
              <a:rPr sz="1800" b="0" dirty="0" err="1">
                <a:solidFill>
                  <a:srgbClr val="BED6E6"/>
                </a:solidFill>
                <a:latin typeface="Aptos"/>
              </a:rPr>
              <a:t>execução</a:t>
            </a:r>
            <a:endParaRPr sz="1800" b="0" dirty="0">
              <a:solidFill>
                <a:srgbClr val="BED6E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755841"/>
            <a:ext cx="38404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 smtClean="0">
                <a:solidFill>
                  <a:srgbClr val="279CB2"/>
                </a:solidFill>
                <a:latin typeface="Aptos"/>
              </a:rPr>
              <a:t>MICRO-SEMINÁRIO</a:t>
            </a:r>
            <a:endParaRPr sz="1100" b="1" dirty="0">
              <a:solidFill>
                <a:srgbClr val="279CB2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736967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BECDDC"/>
                </a:solidFill>
                <a:latin typeface="Aptos"/>
              </a:rPr>
              <a:t>Integrantes</a:t>
            </a:r>
            <a:r>
              <a:rPr sz="1200" b="0" dirty="0">
                <a:solidFill>
                  <a:srgbClr val="BECDDC"/>
                </a:solidFill>
                <a:latin typeface="Aptos"/>
              </a:rPr>
              <a:t>: </a:t>
            </a:r>
            <a:r>
              <a:rPr lang="pt-BR" sz="1200" dirty="0" err="1" smtClean="0">
                <a:solidFill>
                  <a:srgbClr val="BECDDC"/>
                </a:solidFill>
                <a:latin typeface="Aptos"/>
              </a:rPr>
              <a:t>Alecks</a:t>
            </a:r>
            <a:r>
              <a:rPr sz="1200" b="0" dirty="0" smtClean="0">
                <a:solidFill>
                  <a:srgbClr val="BECDDC"/>
                </a:solidFill>
                <a:latin typeface="Aptos"/>
              </a:rPr>
              <a:t> </a:t>
            </a:r>
            <a:r>
              <a:rPr sz="1200" b="0" dirty="0">
                <a:solidFill>
                  <a:srgbClr val="BECDDC"/>
                </a:solidFill>
                <a:latin typeface="Aptos"/>
              </a:rPr>
              <a:t>• </a:t>
            </a:r>
            <a:r>
              <a:rPr lang="pt-BR" sz="1200" dirty="0" smtClean="0">
                <a:solidFill>
                  <a:srgbClr val="BECDDC"/>
                </a:solidFill>
                <a:latin typeface="Aptos"/>
              </a:rPr>
              <a:t>Daniel Alejandro</a:t>
            </a:r>
            <a:r>
              <a:rPr sz="1200" b="0" dirty="0" smtClean="0">
                <a:solidFill>
                  <a:srgbClr val="BECDDC"/>
                </a:solidFill>
                <a:latin typeface="Aptos"/>
              </a:rPr>
              <a:t> </a:t>
            </a:r>
            <a:r>
              <a:rPr sz="1200" b="0" dirty="0">
                <a:solidFill>
                  <a:srgbClr val="BECDDC"/>
                </a:solidFill>
                <a:latin typeface="Aptos"/>
              </a:rPr>
              <a:t>• </a:t>
            </a:r>
            <a:r>
              <a:rPr lang="pt-BR" sz="1200" dirty="0" smtClean="0">
                <a:solidFill>
                  <a:srgbClr val="BECDDC"/>
                </a:solidFill>
                <a:latin typeface="Aptos"/>
              </a:rPr>
              <a:t>Deborah </a:t>
            </a:r>
            <a:r>
              <a:rPr lang="pt-BR" sz="1200" dirty="0" err="1" smtClean="0">
                <a:solidFill>
                  <a:srgbClr val="BECDDC"/>
                </a:solidFill>
                <a:latin typeface="Aptos"/>
              </a:rPr>
              <a:t>Evelyh</a:t>
            </a:r>
            <a:r>
              <a:rPr sz="1200" b="0" dirty="0" smtClean="0">
                <a:solidFill>
                  <a:srgbClr val="BECDDC"/>
                </a:solidFill>
                <a:latin typeface="Aptos"/>
              </a:rPr>
              <a:t> </a:t>
            </a:r>
            <a:r>
              <a:rPr sz="1200" b="0" dirty="0">
                <a:solidFill>
                  <a:srgbClr val="BECDDC"/>
                </a:solidFill>
                <a:latin typeface="Aptos"/>
              </a:rPr>
              <a:t>• </a:t>
            </a:r>
            <a:r>
              <a:rPr lang="pt-BR" sz="1200" dirty="0" smtClean="0">
                <a:solidFill>
                  <a:srgbClr val="BECDDC"/>
                </a:solidFill>
                <a:latin typeface="Aptos"/>
              </a:rPr>
              <a:t>Pedro </a:t>
            </a:r>
            <a:r>
              <a:rPr lang="pt-BR" sz="1200" dirty="0" err="1" smtClean="0">
                <a:solidFill>
                  <a:srgbClr val="BECDDC"/>
                </a:solidFill>
                <a:latin typeface="Aptos"/>
              </a:rPr>
              <a:t>Imanichi</a:t>
            </a:r>
            <a:r>
              <a:rPr sz="1200" b="0" dirty="0" smtClean="0">
                <a:solidFill>
                  <a:srgbClr val="BECDDC"/>
                </a:solidFill>
                <a:latin typeface="Aptos"/>
              </a:rPr>
              <a:t> </a:t>
            </a:r>
            <a:r>
              <a:rPr sz="1200" b="0" dirty="0">
                <a:solidFill>
                  <a:srgbClr val="BECDDC"/>
                </a:solidFill>
                <a:latin typeface="Aptos"/>
              </a:rPr>
              <a:t>• </a:t>
            </a:r>
            <a:r>
              <a:rPr lang="pt-BR" sz="1200" dirty="0" smtClean="0">
                <a:solidFill>
                  <a:srgbClr val="BECDDC"/>
                </a:solidFill>
                <a:latin typeface="Aptos"/>
              </a:rPr>
              <a:t>Roger</a:t>
            </a:r>
            <a:endParaRPr sz="1200" b="0" dirty="0">
              <a:solidFill>
                <a:srgbClr val="BECDD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064240" y="59893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96AFC8"/>
                </a:solidFill>
                <a:latin typeface="Aptos"/>
              </a:rPr>
              <a:t>1</a:t>
            </a:r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0" y="683580"/>
            <a:ext cx="2618969" cy="2618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O que vamos descobrir?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E5B96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94360" cy="594360"/>
          </a:xfrm>
          <a:prstGeom prst="roundRect">
            <a:avLst/>
          </a:prstGeom>
          <a:solidFill>
            <a:srgbClr val="1E5B96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90472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D1F37"/>
                </a:solidFill>
                <a:latin typeface="Aptos"/>
              </a:rPr>
              <a:t>Como o armazenamento evoluiu?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594360" cy="594360"/>
          </a:xfrm>
          <a:prstGeom prst="roundRect">
            <a:avLst/>
          </a:prstGeom>
          <a:solidFill>
            <a:srgbClr val="1E5B96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42032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D1F37"/>
                </a:solidFill>
                <a:latin typeface="Aptos"/>
              </a:rPr>
              <a:t>Qual é a diferença entre HDD, SSD SATA e NVMe?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79"/>
            <a:ext cx="594360" cy="594360"/>
          </a:xfrm>
          <a:prstGeom prst="roundRect">
            <a:avLst/>
          </a:prstGeom>
          <a:solidFill>
            <a:srgbClr val="1E5B96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7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93591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D1F37"/>
                </a:solidFill>
                <a:latin typeface="Aptos"/>
              </a:rPr>
              <a:t>Por que o NVMe consegue reduzir a latência?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594360" cy="594360"/>
          </a:xfrm>
          <a:prstGeom prst="roundRect">
            <a:avLst/>
          </a:prstGeom>
          <a:solidFill>
            <a:srgbClr val="1E5B96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45152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D1F37"/>
                </a:solidFill>
                <a:latin typeface="Aptos"/>
              </a:rPr>
              <a:t>Essa diferença aparece no uso real?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5B677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Pergunta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Façam a turma votar antes de revelar a resposta.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E5B96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0D1F37"/>
                </a:solidFill>
                <a:latin typeface="Aptos"/>
              </a:rPr>
              <a:t>O que faz um computador parecer rápido?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926080"/>
            <a:ext cx="594360" cy="594360"/>
          </a:xfrm>
          <a:prstGeom prst="round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D1F37"/>
                </a:solidFill>
                <a:latin typeface="Aptos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Processamento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74320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599" y="2926080"/>
            <a:ext cx="594360" cy="594360"/>
          </a:xfrm>
          <a:prstGeom prst="round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599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D1F37"/>
                </a:solidFill>
                <a:latin typeface="Aptos"/>
              </a:rP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4114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Dados temporários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74320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2926080"/>
            <a:ext cx="594360" cy="594360"/>
          </a:xfrm>
          <a:prstGeom prst="round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D1F37"/>
                </a:solidFill>
                <a:latin typeface="Aptos"/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14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Gráficos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35440" y="2926080"/>
            <a:ext cx="594360" cy="594360"/>
          </a:xfrm>
          <a:prstGeom prst="round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3703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D1F37"/>
                </a:solidFill>
                <a:latin typeface="Aptos"/>
              </a:rPr>
              <a:t>ARMAZENAMENTO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114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Acesso aos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 err="1">
                <a:solidFill>
                  <a:srgbClr val="268089"/>
                </a:solidFill>
                <a:latin typeface="Aptos"/>
              </a:rPr>
              <a:t>Resposta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: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todos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participam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— mas o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armazenamento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pode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ser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o “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gargalo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”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em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tarefas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de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leitura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 e </a:t>
            </a:r>
            <a:r>
              <a:rPr sz="1500" b="1" dirty="0" err="1">
                <a:solidFill>
                  <a:srgbClr val="268089"/>
                </a:solidFill>
                <a:latin typeface="Aptos"/>
              </a:rPr>
              <a:t>gravação</a:t>
            </a:r>
            <a:r>
              <a:rPr sz="1500" b="1" dirty="0">
                <a:solidFill>
                  <a:srgbClr val="268089"/>
                </a:solidFill>
                <a:latin typeface="Aptos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4710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5B677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O que é armazenamento de dados?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Informações que permanecem gravadas mesmo após desligar 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E5B96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82880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Sistema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3044952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Windows, Linux e outros sistemas são armazenados no disco.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82880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Programas e jogos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12264"/>
            <a:ext cx="3044952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Executáveis, bibliotecas, mapas, texturas e configurações.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182880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Arquivos pessoais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12264"/>
            <a:ext cx="3044952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Fotos, vídeos, documentos e projetos.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E5B96"/>
                </a:solidFill>
                <a:latin typeface="Aptos"/>
              </a:rPr>
              <a:t>O ponto-chave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0D1F37"/>
                </a:solidFill>
                <a:latin typeface="Aptos"/>
              </a:rPr>
              <a:t>Quando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um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programa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precisa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de um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arquivo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, o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armazenamento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precisa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localizá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-lo e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entregá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-lo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ao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 restante do </a:t>
            </a:r>
            <a:r>
              <a:rPr sz="2000" b="1" dirty="0" err="1">
                <a:solidFill>
                  <a:srgbClr val="0D1F37"/>
                </a:solidFill>
                <a:latin typeface="Aptos"/>
              </a:rPr>
              <a:t>sistema</a:t>
            </a:r>
            <a:r>
              <a:rPr sz="2000" b="1" dirty="0">
                <a:solidFill>
                  <a:srgbClr val="0D1F37"/>
                </a:solidFill>
                <a:latin typeface="Aptos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4710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5B677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455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Linha do tempo do armazenamento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>
                <a:solidFill>
                  <a:srgbClr val="5B6775"/>
                </a:solidFill>
                <a:latin typeface="Aptos"/>
              </a:rPr>
              <a:t>A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evolução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foi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marcada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por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capacidade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maior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menor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tempo de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acesso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E5B9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10332720" cy="54864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5171" y="2468880"/>
            <a:ext cx="603504" cy="603504"/>
          </a:xfrm>
          <a:prstGeom prst="round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703" y="3186684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 err="1">
                <a:solidFill>
                  <a:srgbClr val="0D1F37"/>
                </a:solidFill>
                <a:latin typeface="Aptos"/>
              </a:rPr>
              <a:t>Cartões</a:t>
            </a:r>
            <a:r>
              <a:rPr sz="1300" b="1" dirty="0">
                <a:solidFill>
                  <a:srgbClr val="0D1F37"/>
                </a:solidFill>
                <a:latin typeface="Aptos"/>
              </a:rPr>
              <a:t>
</a:t>
            </a:r>
            <a:r>
              <a:rPr sz="1300" b="1" dirty="0" err="1">
                <a:solidFill>
                  <a:srgbClr val="0D1F37"/>
                </a:solidFill>
                <a:latin typeface="Aptos"/>
              </a:rPr>
              <a:t>perfurados</a:t>
            </a:r>
            <a:endParaRPr sz="13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455" y="3747353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dirty="0" err="1">
                <a:solidFill>
                  <a:srgbClr val="5B6775"/>
                </a:solidFill>
                <a:latin typeface="Aptos"/>
              </a:rPr>
              <a:t>registro</a:t>
            </a:r>
            <a:r>
              <a:rPr sz="9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5B6775"/>
                </a:solidFill>
                <a:latin typeface="Aptos"/>
              </a:rPr>
              <a:t>físico</a:t>
            </a:r>
            <a:endParaRPr sz="9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26247" y="2505878"/>
            <a:ext cx="603504" cy="603504"/>
          </a:xfrm>
          <a:prstGeom prst="round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60220" y="3192454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 err="1">
                <a:solidFill>
                  <a:srgbClr val="0D1F37"/>
                </a:solidFill>
                <a:latin typeface="Aptos"/>
              </a:rPr>
              <a:t>Fitas</a:t>
            </a:r>
            <a:r>
              <a:rPr sz="1300" b="1" dirty="0">
                <a:solidFill>
                  <a:srgbClr val="0D1F37"/>
                </a:solidFill>
                <a:latin typeface="Aptos"/>
              </a:rPr>
              <a:t>
</a:t>
            </a:r>
            <a:r>
              <a:rPr sz="1300" b="1" dirty="0" err="1">
                <a:solidFill>
                  <a:srgbClr val="0D1F37"/>
                </a:solidFill>
                <a:latin typeface="Aptos"/>
              </a:rPr>
              <a:t>magnéticas</a:t>
            </a:r>
            <a:endParaRPr sz="13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60220" y="373492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dirty="0">
                <a:solidFill>
                  <a:srgbClr val="5B6775"/>
                </a:solidFill>
                <a:latin typeface="Aptos"/>
              </a:rPr>
              <a:t>backup e 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6041" y="2487168"/>
            <a:ext cx="603504" cy="603504"/>
          </a:xfrm>
          <a:prstGeom prst="round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3175853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 err="1">
                <a:solidFill>
                  <a:srgbClr val="0D1F37"/>
                </a:solidFill>
                <a:latin typeface="Aptos"/>
              </a:rPr>
              <a:t>Disquetes</a:t>
            </a:r>
            <a:endParaRPr sz="13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8463" y="3712819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dirty="0" err="1">
                <a:solidFill>
                  <a:srgbClr val="5B6775"/>
                </a:solidFill>
                <a:latin typeface="Aptos"/>
              </a:rPr>
              <a:t>portabilidade</a:t>
            </a:r>
            <a:endParaRPr sz="9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0" y="2505878"/>
            <a:ext cx="603504" cy="603504"/>
          </a:xfrm>
          <a:prstGeom prst="round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0156" y="3246120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0D1F37"/>
                </a:solidFill>
                <a:latin typeface="Aptos"/>
              </a:rPr>
              <a:t>HDD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371246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5B6775"/>
                </a:solidFill>
                <a:latin typeface="Aptos"/>
              </a:rPr>
              <a:t>magnetismo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487168"/>
            <a:ext cx="603504" cy="603504"/>
          </a:xfrm>
          <a:prstGeom prst="round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7941" y="3227832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0D1F37"/>
                </a:solidFill>
                <a:latin typeface="Aptos"/>
              </a:rPr>
              <a:t>SSD SATA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70056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5B6775"/>
                </a:solidFill>
                <a:latin typeface="Aptos"/>
              </a:rPr>
              <a:t>Flash + SATA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7791" y="2455164"/>
            <a:ext cx="603504" cy="603504"/>
          </a:xfrm>
          <a:prstGeom prst="roundRect">
            <a:avLst/>
          </a:prstGeom>
          <a:solidFill>
            <a:srgbClr val="279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41521" y="3175254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dirty="0">
                <a:solidFill>
                  <a:srgbClr val="0D1F37"/>
                </a:solidFill>
                <a:latin typeface="Aptos"/>
              </a:rPr>
              <a:t>SSD </a:t>
            </a:r>
            <a:r>
              <a:rPr sz="1300" b="1" dirty="0" err="1">
                <a:solidFill>
                  <a:srgbClr val="0D1F37"/>
                </a:solidFill>
                <a:latin typeface="Aptos"/>
              </a:rPr>
              <a:t>NVMe</a:t>
            </a:r>
            <a:endParaRPr sz="13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45516" y="3691291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dirty="0">
                <a:solidFill>
                  <a:srgbClr val="5B6775"/>
                </a:solidFill>
                <a:latin typeface="Aptos"/>
              </a:rPr>
              <a:t>Flash + </a:t>
            </a:r>
            <a:r>
              <a:rPr sz="900" b="0" dirty="0" err="1">
                <a:solidFill>
                  <a:srgbClr val="5B6775"/>
                </a:solidFill>
                <a:latin typeface="Aptos"/>
              </a:rPr>
              <a:t>PCIe</a:t>
            </a:r>
            <a:endParaRPr sz="9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498348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1E5B96"/>
                </a:solidFill>
                <a:latin typeface="Aptos"/>
              </a:rPr>
              <a:t>A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mudança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decisiva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: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sair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 de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mecanismos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móveis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 para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memória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E5B96"/>
                </a:solidFill>
                <a:latin typeface="Aptos"/>
              </a:rPr>
              <a:t>eletrônica</a:t>
            </a:r>
            <a:r>
              <a:rPr sz="1800" b="1" dirty="0">
                <a:solidFill>
                  <a:srgbClr val="1E5B96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dirty="0">
                <a:solidFill>
                  <a:srgbClr val="5B6775"/>
                </a:solidFill>
                <a:latin typeface="Aptos"/>
              </a:rPr>
              <a:t>Micro-</a:t>
            </a:r>
            <a:r>
              <a:rPr sz="700" b="0" dirty="0" err="1">
                <a:solidFill>
                  <a:srgbClr val="5B6775"/>
                </a:solidFill>
                <a:latin typeface="Aptos"/>
              </a:rPr>
              <a:t>seminário</a:t>
            </a:r>
            <a:r>
              <a:rPr sz="700" b="0" dirty="0">
                <a:solidFill>
                  <a:srgbClr val="5B6775"/>
                </a:solidFill>
                <a:latin typeface="Aptos"/>
              </a:rPr>
              <a:t> • </a:t>
            </a:r>
            <a:r>
              <a:rPr sz="700" b="0" dirty="0" err="1">
                <a:solidFill>
                  <a:srgbClr val="5B6775"/>
                </a:solidFill>
                <a:latin typeface="Aptos"/>
              </a:rPr>
              <a:t>Armazenamento</a:t>
            </a:r>
            <a:r>
              <a:rPr sz="700" b="0" dirty="0">
                <a:solidFill>
                  <a:srgbClr val="5B6775"/>
                </a:solidFill>
                <a:latin typeface="Aptos"/>
              </a:rPr>
              <a:t> e SSDs </a:t>
            </a:r>
            <a:r>
              <a:rPr sz="700" b="0" dirty="0" err="1">
                <a:solidFill>
                  <a:srgbClr val="5B6775"/>
                </a:solidFill>
                <a:latin typeface="Aptos"/>
              </a:rPr>
              <a:t>NVMe</a:t>
            </a:r>
            <a:endParaRPr sz="7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5B677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20064"/>
            <a:ext cx="102412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800" b="1" dirty="0" smtClean="0">
                <a:solidFill>
                  <a:srgbClr val="0D1F37"/>
                </a:solidFill>
                <a:latin typeface="Aptos"/>
              </a:rPr>
              <a:t>Cartões Perfurados </a:t>
            </a:r>
            <a:endParaRPr sz="28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26171"/>
            <a:ext cx="102412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dirty="0" smtClean="0">
                <a:solidFill>
                  <a:srgbClr val="5B6775"/>
                </a:solidFill>
                <a:latin typeface="Aptos"/>
              </a:rPr>
              <a:t>Pedaços de cartolina retangulares usado no século </a:t>
            </a:r>
            <a:r>
              <a:rPr lang="pt-BR" sz="1100" dirty="0" err="1" smtClean="0">
                <a:solidFill>
                  <a:srgbClr val="5B6775"/>
                </a:solidFill>
                <a:latin typeface="Aptos"/>
              </a:rPr>
              <a:t>xx</a:t>
            </a:r>
            <a:r>
              <a:rPr lang="pt-BR" sz="1100" dirty="0" smtClean="0">
                <a:solidFill>
                  <a:srgbClr val="5B6775"/>
                </a:solidFill>
                <a:latin typeface="Aptos"/>
              </a:rPr>
              <a:t> para guardar códigos de computadores.</a:t>
            </a:r>
            <a:endParaRPr sz="11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>
                <a:solidFill>
                  <a:srgbClr val="1E5B96"/>
                </a:solidFill>
                <a:latin typeface="Aptos"/>
              </a:rPr>
              <a:t>6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319596" y="1731146"/>
            <a:ext cx="11762913" cy="3169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594359" y="1914101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300" b="1" dirty="0" smtClean="0">
                <a:solidFill>
                  <a:srgbClr val="0D1F37"/>
                </a:solidFill>
                <a:latin typeface="Aptos"/>
              </a:rPr>
              <a:t>Como funcionava ?</a:t>
            </a:r>
            <a:endParaRPr sz="13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59" y="2258598"/>
            <a:ext cx="5486401" cy="2369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pt-BR" sz="1400" b="1" dirty="0" smtClean="0">
                <a:solidFill>
                  <a:srgbClr val="5B6775"/>
                </a:solidFill>
                <a:latin typeface="Aptos"/>
              </a:rPr>
              <a:t>1- Os furos eram feitos em posições específicas do cartão.</a:t>
            </a:r>
          </a:p>
          <a:p>
            <a:endParaRPr lang="pt-BR" sz="1400" b="1" dirty="0">
              <a:solidFill>
                <a:srgbClr val="5B6775"/>
              </a:solidFill>
              <a:latin typeface="Aptos"/>
            </a:endParaRPr>
          </a:p>
          <a:p>
            <a:r>
              <a:rPr lang="pt-BR" sz="1400" b="1" dirty="0" smtClean="0">
                <a:solidFill>
                  <a:srgbClr val="5B6775"/>
                </a:solidFill>
                <a:latin typeface="Aptos"/>
              </a:rPr>
              <a:t>2- Cada Posição ou combinação de furos representava uma informação</a:t>
            </a:r>
          </a:p>
          <a:p>
            <a:r>
              <a:rPr lang="pt-BR" sz="1400" b="1" dirty="0" smtClean="0">
                <a:solidFill>
                  <a:srgbClr val="5B6775"/>
                </a:solidFill>
                <a:latin typeface="Aptos"/>
              </a:rPr>
              <a:t>Como um número, letra ou comando.</a:t>
            </a:r>
          </a:p>
          <a:p>
            <a:endParaRPr lang="pt-BR" sz="1400" b="1" dirty="0">
              <a:solidFill>
                <a:srgbClr val="5B6775"/>
              </a:solidFill>
              <a:latin typeface="Aptos"/>
            </a:endParaRPr>
          </a:p>
          <a:p>
            <a:r>
              <a:rPr lang="pt-BR" sz="1400" b="1" dirty="0" smtClean="0">
                <a:solidFill>
                  <a:srgbClr val="5B6775"/>
                </a:solidFill>
                <a:latin typeface="Aptos"/>
              </a:rPr>
              <a:t>3- Uma máquina fazia a leitura do cartão, identificando onde existiam furos.</a:t>
            </a:r>
          </a:p>
          <a:p>
            <a:endParaRPr lang="pt-BR" sz="1400" b="1" dirty="0">
              <a:solidFill>
                <a:srgbClr val="5B6775"/>
              </a:solidFill>
              <a:latin typeface="Aptos"/>
            </a:endParaRPr>
          </a:p>
          <a:p>
            <a:r>
              <a:rPr lang="pt-BR" sz="1400" b="1" dirty="0" smtClean="0">
                <a:solidFill>
                  <a:srgbClr val="5B6775"/>
                </a:solidFill>
                <a:latin typeface="Aptos"/>
              </a:rPr>
              <a:t>4- O sistema transformava esse padrão de furos em Dados que podiam ser processados</a:t>
            </a:r>
            <a:endParaRPr sz="1400" b="1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>
                <a:solidFill>
                  <a:srgbClr val="5B6775"/>
                </a:solidFill>
                <a:latin typeface="Aptos"/>
              </a:rPr>
              <a:t>6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26" y="2125736"/>
            <a:ext cx="5229955" cy="2295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54" y="0"/>
            <a:ext cx="10404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0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20064"/>
            <a:ext cx="102412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800" b="1" dirty="0" smtClean="0">
                <a:solidFill>
                  <a:srgbClr val="0D1F37"/>
                </a:solidFill>
                <a:latin typeface="Aptos"/>
              </a:rPr>
              <a:t>Fitas Magnéticas</a:t>
            </a:r>
            <a:endParaRPr sz="28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94353"/>
            <a:ext cx="102412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dirty="0" smtClean="0">
                <a:solidFill>
                  <a:srgbClr val="5B6775"/>
                </a:solidFill>
                <a:latin typeface="Aptos"/>
              </a:rPr>
              <a:t>Tira de plástico fina com revestimento de metal que guarda sons, imagens ou dados em formas de sinais magnéticos</a:t>
            </a:r>
            <a:endParaRPr sz="11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>
                <a:solidFill>
                  <a:srgbClr val="1E5B96"/>
                </a:solidFill>
                <a:latin typeface="Aptos"/>
              </a:rPr>
              <a:t>8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>
                <a:solidFill>
                  <a:srgbClr val="5B6775"/>
                </a:solidFill>
                <a:latin typeface="Aptos"/>
              </a:rPr>
              <a:t>8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559293" y="3811742"/>
            <a:ext cx="9793776" cy="25122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/>
        </p:nvSpPr>
        <p:spPr>
          <a:xfrm>
            <a:off x="559293" y="1328597"/>
            <a:ext cx="9809825" cy="23950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558" y="1428886"/>
            <a:ext cx="2579152" cy="2200154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88568"/>
            <a:ext cx="2582264" cy="2156777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647715" y="1845304"/>
            <a:ext cx="62041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1- Armazenava grandes quantidades de dados</a:t>
            </a:r>
          </a:p>
          <a:p>
            <a:endParaRPr lang="pt-BR" sz="1400" dirty="0">
              <a:solidFill>
                <a:srgbClr val="5B6775"/>
              </a:solidFill>
              <a:latin typeface="Aptos"/>
            </a:endParaRPr>
          </a:p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2 - usada principalmente para backup e arquivos</a:t>
            </a:r>
          </a:p>
          <a:p>
            <a:endParaRPr lang="pt-BR" sz="1400" dirty="0">
              <a:solidFill>
                <a:srgbClr val="5B6775"/>
              </a:solidFill>
              <a:latin typeface="Aptos"/>
            </a:endParaRPr>
          </a:p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3 – Eram mais lentas que discos, mas tinham grande capacidade e menos custo por dado.</a:t>
            </a:r>
            <a:endParaRPr lang="pt-BR" sz="14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58368" y="4314548"/>
            <a:ext cx="562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15013" y="4145747"/>
            <a:ext cx="655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Como Funcionava?</a:t>
            </a:r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3853050" y="4655400"/>
            <a:ext cx="590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A </a:t>
            </a:r>
            <a:r>
              <a:rPr lang="pt-BR" sz="1400" dirty="0" smtClean="0">
                <a:solidFill>
                  <a:srgbClr val="5B6775"/>
                </a:solidFill>
                <a:latin typeface="Aptos"/>
              </a:rPr>
              <a:t>Fita se movimentava passando pela cabeça de leitura e gravação, que registrava e recuperava os dados por meios de sinais magnéticos.</a:t>
            </a:r>
            <a:endParaRPr lang="pt-BR" sz="140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144890" y="5747626"/>
            <a:ext cx="1340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IBM 3490</a:t>
            </a:r>
            <a:endParaRPr lang="pt-B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65295" y="378069"/>
            <a:ext cx="2018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smtClean="0">
                <a:solidFill>
                  <a:srgbClr val="0D1F37"/>
                </a:solidFill>
                <a:latin typeface="Aptos"/>
              </a:rPr>
              <a:t>DISQUETE</a:t>
            </a:r>
            <a:endParaRPr lang="pt-BR" sz="28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865295" y="870511"/>
            <a:ext cx="9174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5B6775"/>
                </a:solidFill>
                <a:latin typeface="Aptos"/>
              </a:rPr>
              <a:t>Tira de plástico fina com revestimento de metal que guarda sons, imagens ou dados em formas de sinais magnéticos</a:t>
            </a:r>
            <a:endParaRPr lang="pt-BR" sz="120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5" name="Rounded Rectangle 6"/>
          <p:cNvSpPr/>
          <p:nvPr/>
        </p:nvSpPr>
        <p:spPr>
          <a:xfrm>
            <a:off x="6588391" y="1785621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24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6524383" y="1759066"/>
            <a:ext cx="64008" cy="114300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830" y="3140825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6" name="Rectangle 11"/>
          <p:cNvSpPr/>
          <p:nvPr/>
        </p:nvSpPr>
        <p:spPr>
          <a:xfrm>
            <a:off x="6518518" y="3140825"/>
            <a:ext cx="64008" cy="114300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/>
          <p:cNvSpPr/>
          <p:nvPr/>
        </p:nvSpPr>
        <p:spPr>
          <a:xfrm>
            <a:off x="6524383" y="4522584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5"/>
          <p:cNvSpPr/>
          <p:nvPr/>
        </p:nvSpPr>
        <p:spPr>
          <a:xfrm>
            <a:off x="6518518" y="4549139"/>
            <a:ext cx="64008" cy="1143000"/>
          </a:xfrm>
          <a:prstGeom prst="rect">
            <a:avLst/>
          </a:prstGeom>
          <a:solidFill>
            <a:srgbClr val="BE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09" y="1393516"/>
            <a:ext cx="3819000" cy="2483453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6733308" y="1865746"/>
            <a:ext cx="492930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solidFill>
                  <a:srgbClr val="0D1F37"/>
                </a:solidFill>
                <a:latin typeface="Aptos"/>
              </a:rPr>
              <a:t>Como </a:t>
            </a:r>
            <a:r>
              <a:rPr lang="pt-BR" sz="1500" b="1" dirty="0" smtClean="0">
                <a:solidFill>
                  <a:srgbClr val="0D1F37"/>
                </a:solidFill>
                <a:latin typeface="Aptos"/>
              </a:rPr>
              <a:t>funciona?</a:t>
            </a:r>
            <a:endParaRPr lang="pt-BR" sz="1500" b="1" dirty="0">
              <a:solidFill>
                <a:srgbClr val="0D1F37"/>
              </a:solidFill>
              <a:latin typeface="Aptos"/>
            </a:endParaRPr>
          </a:p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O Disquete utiliza um disco magnético para armazenar informações. Quando inserido no computador, um unidade de disquete lê ou grava os dados nesse disco</a:t>
            </a:r>
            <a:endParaRPr lang="pt-BR" sz="1400" dirty="0">
              <a:solidFill>
                <a:srgbClr val="5B6775"/>
              </a:solidFill>
              <a:latin typeface="Aptos"/>
            </a:endParaRPr>
          </a:p>
          <a:p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6733308" y="3176324"/>
            <a:ext cx="5162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solidFill>
                  <a:srgbClr val="0D1F37"/>
                </a:solidFill>
                <a:latin typeface="Aptos"/>
              </a:rPr>
              <a:t>Vantagens</a:t>
            </a:r>
          </a:p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Era pequeno e fácil de transportar, podia ser reutilizado várias vezes e foi uma tecnologia simples e acessível para a época</a:t>
            </a:r>
            <a:endParaRPr lang="pt-BR" sz="1400" b="1" dirty="0">
              <a:solidFill>
                <a:srgbClr val="0D1F37"/>
              </a:solidFill>
              <a:latin typeface="Aptos"/>
            </a:endParaRPr>
          </a:p>
          <a:p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733308" y="4589291"/>
            <a:ext cx="51624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 smtClean="0">
                <a:solidFill>
                  <a:srgbClr val="0D1F37"/>
                </a:solidFill>
                <a:latin typeface="Aptos"/>
              </a:rPr>
              <a:t>Desvantagens</a:t>
            </a:r>
          </a:p>
          <a:p>
            <a:r>
              <a:rPr lang="pt-BR" sz="1400" dirty="0" smtClean="0">
                <a:solidFill>
                  <a:srgbClr val="5B6775"/>
                </a:solidFill>
                <a:latin typeface="Aptos"/>
              </a:rPr>
              <a:t>Pouco armazenamento</a:t>
            </a:r>
            <a:r>
              <a:rPr lang="pt-BR" sz="1400" dirty="0">
                <a:solidFill>
                  <a:srgbClr val="5B6775"/>
                </a:solidFill>
                <a:latin typeface="Aptos"/>
              </a:rPr>
              <a:t> </a:t>
            </a:r>
            <a:r>
              <a:rPr lang="pt-BR" sz="1400" dirty="0" smtClean="0">
                <a:solidFill>
                  <a:srgbClr val="5B6775"/>
                </a:solidFill>
                <a:latin typeface="Aptos"/>
              </a:rPr>
              <a:t>e podia ser danificado facilmente 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0493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D1F37"/>
                </a:solidFill>
                <a:latin typeface="Aptos"/>
              </a:rPr>
              <a:t>HDD — Hard Disk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O clássico armazenamento magnético.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>
                <a:solidFill>
                  <a:srgbClr val="1E5B96"/>
                </a:solidFill>
                <a:latin typeface="Aptos"/>
              </a:rPr>
              <a:t>9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21324" y="1397203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64008" cy="114300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1631088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0D1F37"/>
                </a:solidFill>
                <a:latin typeface="Aptos"/>
              </a:rPr>
              <a:t>Como </a:t>
            </a:r>
            <a:r>
              <a:rPr sz="1500" b="1" dirty="0" err="1" smtClean="0">
                <a:solidFill>
                  <a:srgbClr val="0D1F37"/>
                </a:solidFill>
                <a:latin typeface="Aptos"/>
              </a:rPr>
              <a:t>funciona</a:t>
            </a:r>
            <a:r>
              <a:rPr lang="pt-BR" sz="1500" b="1" dirty="0" smtClean="0">
                <a:solidFill>
                  <a:srgbClr val="0D1F37"/>
                </a:solidFill>
                <a:latin typeface="Aptos"/>
              </a:rPr>
              <a:t>?</a:t>
            </a:r>
            <a:endParaRPr sz="15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0488" y="2020824"/>
            <a:ext cx="50109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Pratos magnéticos giram; cabeças de leitura/escrita se movimentam sobre eles.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69748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2697480"/>
            <a:ext cx="64008" cy="114300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286207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0D1F37"/>
                </a:solidFill>
                <a:latin typeface="Aptos"/>
              </a:rPr>
              <a:t>Vantagens</a:t>
            </a:r>
            <a:endParaRPr sz="15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0488" y="3300984"/>
            <a:ext cx="50109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Grande capacidade e bom custo por gigabyte.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977639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3977639"/>
            <a:ext cx="64008" cy="1143000"/>
          </a:xfrm>
          <a:prstGeom prst="rect">
            <a:avLst/>
          </a:prstGeom>
          <a:solidFill>
            <a:srgbClr val="BE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0488" y="4142231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D1F37"/>
                </a:solidFill>
                <a:latin typeface="Aptos"/>
              </a:rPr>
              <a:t>Limitações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581144"/>
            <a:ext cx="50109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Partes móveis, maior latência, ruído e sensibilidade a impactos.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>
                <a:solidFill>
                  <a:srgbClr val="5B6775"/>
                </a:solidFill>
                <a:latin typeface="Aptos"/>
              </a:rPr>
              <a:t>9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31" y="1500476"/>
            <a:ext cx="3724795" cy="40582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1576482" y="6473586"/>
            <a:ext cx="79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17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58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7" y="33680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D1F37"/>
                </a:solidFill>
                <a:latin typeface="Aptos"/>
              </a:rPr>
              <a:t>SSD SATA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A memória Flash elimina as partes mecânicas.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11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pic>
        <p:nvPicPr>
          <p:cNvPr id="6" name="Picture 5" descr="_crop_ssd_s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784"/>
            <a:ext cx="457200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1508760"/>
            <a:ext cx="5486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77840" y="1508760"/>
            <a:ext cx="64008" cy="123444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79007" y="1673351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D1F37"/>
                </a:solidFill>
                <a:latin typeface="Aptos"/>
              </a:rPr>
              <a:t>Memória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7" y="2112264"/>
            <a:ext cx="5102352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Aptos"/>
              </a:rPr>
              <a:t>Os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dados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são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armazenados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eletronicamente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sem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pratos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ou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cabeças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5B6775"/>
                </a:solidFill>
                <a:latin typeface="Aptos"/>
              </a:rPr>
              <a:t>móveis</a:t>
            </a:r>
            <a:r>
              <a:rPr sz="1100" b="0" dirty="0">
                <a:solidFill>
                  <a:srgbClr val="5B6775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880360"/>
            <a:ext cx="5486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2880360"/>
            <a:ext cx="64008" cy="123444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9007" y="304495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D1F37"/>
                </a:solidFill>
                <a:latin typeface="Aptos"/>
              </a:rPr>
              <a:t>SATA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5" y="3412941"/>
            <a:ext cx="510235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dirty="0" err="1" smtClean="0">
                <a:solidFill>
                  <a:srgbClr val="5B6775"/>
                </a:solidFill>
                <a:latin typeface="Aptos"/>
              </a:rPr>
              <a:t>Sata</a:t>
            </a:r>
            <a:r>
              <a:rPr lang="pt-BR" sz="1100" dirty="0" smtClean="0">
                <a:solidFill>
                  <a:srgbClr val="5B6775"/>
                </a:solidFill>
                <a:latin typeface="Aptos"/>
              </a:rPr>
              <a:t> é a interface usada para conectar o SSD à </a:t>
            </a:r>
            <a:r>
              <a:rPr lang="pt-BR" sz="1100" dirty="0" err="1" smtClean="0">
                <a:solidFill>
                  <a:srgbClr val="5B6775"/>
                </a:solidFill>
                <a:latin typeface="Aptos"/>
              </a:rPr>
              <a:t>placa-mãe</a:t>
            </a:r>
            <a:r>
              <a:rPr lang="pt-BR" sz="1100" dirty="0" smtClean="0">
                <a:solidFill>
                  <a:srgbClr val="5B6775"/>
                </a:solidFill>
                <a:latin typeface="Aptos"/>
              </a:rPr>
              <a:t> </a:t>
            </a:r>
            <a:endParaRPr sz="11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77840" y="4251960"/>
            <a:ext cx="5486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4251960"/>
            <a:ext cx="64008" cy="123444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9007" y="441655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D1F37"/>
                </a:solidFill>
                <a:latin typeface="Aptos"/>
              </a:rPr>
              <a:t>Resultado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5" y="4890458"/>
            <a:ext cx="510235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100" dirty="0" smtClean="0">
                <a:solidFill>
                  <a:srgbClr val="5B6775"/>
                </a:solidFill>
                <a:latin typeface="Aptos"/>
              </a:rPr>
              <a:t>Proporciona inicializações mais rápidas, carregamento de programas ágil e maior agilidade no dia a dia </a:t>
            </a:r>
            <a:endParaRPr sz="11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622652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 smtClean="0">
                <a:solidFill>
                  <a:srgbClr val="5B6775"/>
                </a:solidFill>
                <a:latin typeface="Aptos"/>
              </a:rPr>
              <a:t>11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710427" y="3704852"/>
            <a:ext cx="5285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B6775"/>
                </a:solidFill>
                <a:latin typeface="Aptos"/>
              </a:rPr>
              <a:t>É uma interface mais antiga que o M.2, porém </a:t>
            </a:r>
            <a:r>
              <a:rPr lang="pt-BR" sz="1200" dirty="0" err="1" smtClean="0">
                <a:solidFill>
                  <a:srgbClr val="5B6775"/>
                </a:solidFill>
                <a:latin typeface="Aptos"/>
              </a:rPr>
              <a:t>porém</a:t>
            </a:r>
            <a:r>
              <a:rPr lang="pt-BR" sz="1200" dirty="0" smtClean="0">
                <a:solidFill>
                  <a:srgbClr val="5B6775"/>
                </a:solidFill>
                <a:latin typeface="Aptos"/>
              </a:rPr>
              <a:t> ainda muito utilizada </a:t>
            </a:r>
            <a:endParaRPr lang="pt-B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1532093" y="6453157"/>
            <a:ext cx="834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738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D1F37"/>
                </a:solidFill>
                <a:latin typeface="Aptos"/>
              </a:rPr>
              <a:t>SSD </a:t>
            </a:r>
            <a:r>
              <a:rPr sz="2800" b="1" dirty="0" err="1">
                <a:solidFill>
                  <a:srgbClr val="0D1F37"/>
                </a:solidFill>
                <a:latin typeface="Aptos"/>
              </a:rPr>
              <a:t>NVMe</a:t>
            </a:r>
            <a:endParaRPr sz="28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O armazenamento moderno aproveita a interface PCIe.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13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97880" y="14173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97880" y="1417320"/>
            <a:ext cx="64008" cy="132588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9048" y="158191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0D1F37"/>
                </a:solidFill>
                <a:latin typeface="Aptos"/>
              </a:rPr>
              <a:t>SSD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2216527"/>
            <a:ext cx="482803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5B6775"/>
                </a:solidFill>
                <a:latin typeface="Aptos"/>
              </a:rPr>
              <a:t>Dispositivo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baseado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em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memória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smtClean="0">
                <a:solidFill>
                  <a:srgbClr val="5B6775"/>
                </a:solidFill>
                <a:latin typeface="Aptos"/>
              </a:rPr>
              <a:t>Flash</a:t>
            </a:r>
            <a:r>
              <a:rPr lang="pt-BR" sz="1200" b="0" dirty="0" smtClean="0">
                <a:solidFill>
                  <a:srgbClr val="5B6775"/>
                </a:solidFill>
                <a:latin typeface="Aptos"/>
              </a:rPr>
              <a:t>(</a:t>
            </a:r>
            <a:r>
              <a:rPr lang="pt-BR" sz="1200" b="0" dirty="0" err="1" smtClean="0">
                <a:solidFill>
                  <a:srgbClr val="5B6775"/>
                </a:solidFill>
                <a:latin typeface="Aptos"/>
              </a:rPr>
              <a:t>Nand</a:t>
            </a:r>
            <a:r>
              <a:rPr lang="pt-BR" sz="1200" b="0" dirty="0" smtClean="0">
                <a:solidFill>
                  <a:srgbClr val="5B6775"/>
                </a:solidFill>
                <a:latin typeface="Aptos"/>
              </a:rPr>
              <a:t>) para armazenar dados</a:t>
            </a:r>
            <a:endParaRPr sz="12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97880" y="288036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97880" y="2880360"/>
            <a:ext cx="64008" cy="132588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9048" y="304495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NVMe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442523"/>
            <a:ext cx="47823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smtClean="0">
                <a:solidFill>
                  <a:srgbClr val="5B6775"/>
                </a:solidFill>
                <a:latin typeface="Aptos"/>
              </a:rPr>
              <a:t>Protocol</a:t>
            </a:r>
            <a:r>
              <a:rPr lang="pt-BR" sz="1200" b="0" dirty="0" smtClean="0">
                <a:solidFill>
                  <a:srgbClr val="5B6775"/>
                </a:solidFill>
                <a:latin typeface="Aptos"/>
              </a:rPr>
              <a:t>o criado especialmente para </a:t>
            </a:r>
            <a:r>
              <a:rPr lang="pt-BR" sz="1200" b="0" dirty="0" err="1" smtClean="0">
                <a:solidFill>
                  <a:srgbClr val="5B6775"/>
                </a:solidFill>
                <a:latin typeface="Aptos"/>
              </a:rPr>
              <a:t>SSDs</a:t>
            </a:r>
            <a:r>
              <a:rPr lang="pt-BR" sz="1200" b="0" dirty="0" smtClean="0">
                <a:solidFill>
                  <a:srgbClr val="5B6775"/>
                </a:solidFill>
                <a:latin typeface="Aptos"/>
              </a:rPr>
              <a:t> que usam </a:t>
            </a:r>
            <a:r>
              <a:rPr lang="pt-BR" sz="1200" b="0" dirty="0" err="1" smtClean="0">
                <a:solidFill>
                  <a:srgbClr val="5B6775"/>
                </a:solidFill>
                <a:latin typeface="Aptos"/>
              </a:rPr>
              <a:t>PCIe</a:t>
            </a:r>
            <a:r>
              <a:rPr lang="pt-BR" sz="1200" b="0" dirty="0" smtClean="0">
                <a:solidFill>
                  <a:srgbClr val="5B6775"/>
                </a:solidFill>
                <a:latin typeface="Aptos"/>
              </a:rPr>
              <a:t>.</a:t>
            </a:r>
            <a:endParaRPr sz="12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897880" y="43434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80" y="4343400"/>
            <a:ext cx="64008" cy="132588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99048" y="4507992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PCIe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001768"/>
            <a:ext cx="501091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5B6775"/>
                </a:solidFill>
                <a:latin typeface="Aptos"/>
              </a:rPr>
              <a:t>Interface de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alta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velocidade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usada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</a:t>
            </a:r>
            <a:r>
              <a:rPr lang="pt-BR" sz="1200" dirty="0" smtClean="0">
                <a:solidFill>
                  <a:srgbClr val="5B6775"/>
                </a:solidFill>
                <a:latin typeface="Aptos"/>
              </a:rPr>
              <a:t>para conectar dispositivos à </a:t>
            </a:r>
            <a:r>
              <a:rPr lang="pt-BR" sz="1200" dirty="0" err="1" smtClean="0">
                <a:solidFill>
                  <a:srgbClr val="5B6775"/>
                </a:solidFill>
                <a:latin typeface="Aptos"/>
              </a:rPr>
              <a:t>placa-mãe</a:t>
            </a:r>
            <a:endParaRPr sz="12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33" y="2880360"/>
            <a:ext cx="3581900" cy="990738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010592" y="3665594"/>
            <a:ext cx="442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B6775"/>
                </a:solidFill>
                <a:latin typeface="Aptos"/>
              </a:rPr>
              <a:t>Permite comunicação muito mais rápida entre o SSD e o processor.</a:t>
            </a:r>
            <a:endParaRPr lang="pt-B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1647504" y="6391922"/>
            <a:ext cx="44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14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3133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SATA × PCIe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A interface limita ou libera o potencial do armazenamento.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15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3383280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19072"/>
            <a:ext cx="475487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D1F37"/>
                </a:solidFill>
                <a:latin typeface="Aptos"/>
              </a:rPr>
              <a:t>SATA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006" y="2157984"/>
            <a:ext cx="4736592" cy="2633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dirty="0">
                <a:solidFill>
                  <a:srgbClr val="5B6775"/>
                </a:solidFill>
                <a:latin typeface="Aptos"/>
              </a:rPr>
              <a:t>• Interface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tradicional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
•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Muito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comum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em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SSDs de 2,5"
•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Limita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o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desempenho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em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comparação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com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PCIe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
Ideal para upgrades simples e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máquinas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compatíveis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4008" cy="338328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719072"/>
            <a:ext cx="475487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D1F37"/>
                </a:solidFill>
                <a:latin typeface="Aptos"/>
              </a:rPr>
              <a:t>PCIe + NVMe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57984"/>
            <a:ext cx="4736592" cy="2633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Aptos"/>
              </a:rPr>
              <a:t>• Interface moderna
• Maior largura de banda
• Mais operações simultâneas
• Menor latência
Projetado para aproveitar melhor os SSDs atuais.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68089"/>
                </a:solidFill>
                <a:latin typeface="Aptos"/>
              </a:rPr>
              <a:t>Importante: NVMe é o protocolo; PCIe é a interface/barramento.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 smtClean="0">
                <a:solidFill>
                  <a:srgbClr val="5B6775"/>
                </a:solidFill>
                <a:latin typeface="Aptos"/>
              </a:rPr>
              <a:t>15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Latência × taxa de transferência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Dois conceitos diferentes explicam o desempenho.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1678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16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663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320040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190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D1F37"/>
                </a:solidFill>
                <a:latin typeface="Aptos"/>
              </a:rPr>
              <a:t>LATÊNCIA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57984"/>
            <a:ext cx="4782312" cy="2450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Aptos"/>
              </a:rPr>
              <a:t>Tempo entre uma solicitação e o início da resposta.
É especialmente importante quando existem muitas operações pequenas.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663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320040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D1F37"/>
                </a:solidFill>
                <a:latin typeface="Aptos"/>
              </a:rPr>
              <a:t>TAXA DE TRANSFERÊNCIA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57984"/>
            <a:ext cx="4782312" cy="2450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Aptos"/>
              </a:rPr>
              <a:t>Quantidade de dados transferidos por unidade de tempo.
É importante em arquivos grandes e operações sequenciais.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D1F37"/>
                </a:solidFill>
                <a:latin typeface="Aptos"/>
              </a:rPr>
              <a:t>Um SSD pode ser rápido nos dois sentidos — mas cada tarefa pesa de um jeito.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 smtClean="0">
                <a:solidFill>
                  <a:srgbClr val="5B6775"/>
                </a:solidFill>
                <a:latin typeface="Aptos"/>
              </a:rPr>
              <a:t>16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38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Como os dados chegam ao processador?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Uma visão simplificada do caminho.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AABED2"/>
                </a:solidFill>
                <a:latin typeface="Aptos"/>
              </a:rPr>
              <a:t>17</a:t>
            </a:r>
            <a:endParaRPr sz="900" b="1" dirty="0">
              <a:solidFill>
                <a:srgbClr val="AABED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331720" cy="2194560"/>
          </a:xfrm>
          <a:prstGeom prst="roundRect">
            <a:avLst/>
          </a:prstGeom>
          <a:solidFill>
            <a:srgbClr val="18304B"/>
          </a:solidFill>
          <a:ln>
            <a:solidFill>
              <a:srgbClr val="279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Armazenamento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461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2D5E4"/>
                </a:solidFill>
                <a:latin typeface="Aptos"/>
              </a:rPr>
              <a:t>Arquivo solicitado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88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79CB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011680"/>
            <a:ext cx="2331720" cy="2194560"/>
          </a:xfrm>
          <a:prstGeom prst="roundRect">
            <a:avLst/>
          </a:prstGeom>
          <a:solidFill>
            <a:srgbClr val="18304B"/>
          </a:solidFill>
          <a:ln>
            <a:solidFill>
              <a:srgbClr val="268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1" y="22128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743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Controlador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2461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2D5E4"/>
                </a:solidFill>
                <a:latin typeface="Aptos"/>
              </a:rPr>
              <a:t>Gerencia a 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788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79CB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331720" cy="2194560"/>
          </a:xfrm>
          <a:prstGeom prst="roundRect">
            <a:avLst/>
          </a:prstGeom>
          <a:solidFill>
            <a:srgbClr val="18304B"/>
          </a:solidFill>
          <a:ln>
            <a:solidFill>
              <a:srgbClr val="35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22128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743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2461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2D5E4"/>
                </a:solidFill>
                <a:latin typeface="Aptos"/>
              </a:rPr>
              <a:t>Mantém os dados 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788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79CB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331720" cy="2194560"/>
          </a:xfrm>
          <a:prstGeom prst="roundRect">
            <a:avLst/>
          </a:prstGeom>
          <a:solidFill>
            <a:srgbClr val="18304B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22128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432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2461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2D5E4"/>
                </a:solidFill>
                <a:latin typeface="Aptos"/>
              </a:rPr>
              <a:t>Processa a informação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dirty="0" err="1">
                <a:solidFill>
                  <a:srgbClr val="FFFFFF"/>
                </a:solidFill>
                <a:latin typeface="Aptos"/>
              </a:rPr>
              <a:t>Quanto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mais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rápido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o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armazenamento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responde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menor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pode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ser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o tempo de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espera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no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início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desse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caminho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042064"/>
            <a:ext cx="32004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800" b="1" dirty="0" smtClean="0">
                <a:solidFill>
                  <a:srgbClr val="96AFC8"/>
                </a:solidFill>
                <a:latin typeface="Aptos"/>
              </a:rPr>
              <a:t>17</a:t>
            </a:r>
            <a:endParaRPr sz="800" b="1" dirty="0">
              <a:solidFill>
                <a:srgbClr val="96AFC8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Por que o NVMe é mais rápido?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Não é apenas porque “é SSD”.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18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141732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190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PCIe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57984"/>
            <a:ext cx="47823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Aptos"/>
              </a:rPr>
              <a:t>Maior largura de banda para comunicação.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64008" cy="141732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7190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Paralelismo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57984"/>
            <a:ext cx="47823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Aptos"/>
              </a:rPr>
              <a:t>O protocolo suporta muitas operações simultâneas.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383280"/>
            <a:ext cx="64008" cy="141732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5478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Baixa latência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986784"/>
            <a:ext cx="47823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5B6775"/>
                </a:solidFill>
                <a:latin typeface="Aptos"/>
              </a:rPr>
              <a:t>Menos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tempo entre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pedido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 e </a:t>
            </a:r>
            <a:r>
              <a:rPr sz="1200" b="0" dirty="0" err="1">
                <a:solidFill>
                  <a:srgbClr val="5B6775"/>
                </a:solidFill>
                <a:latin typeface="Aptos"/>
              </a:rPr>
              <a:t>resposta</a:t>
            </a:r>
            <a:r>
              <a:rPr sz="1200" b="0" dirty="0">
                <a:solidFill>
                  <a:srgbClr val="5B6775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64008" cy="141732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5478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Projeto moderno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986784"/>
            <a:ext cx="47823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Aptos"/>
              </a:rPr>
              <a:t>Foi criado pensando em armazenamento Flash.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5B96"/>
                </a:solidFill>
                <a:latin typeface="Aptos"/>
              </a:rPr>
              <a:t>Resultado: menos tempo esperando pelos dados.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O NVMe faz tudo ficar mais rápido?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Não. O desempenho depende do conjunto.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20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08760" y="1874519"/>
            <a:ext cx="868680" cy="502920"/>
          </a:xfrm>
          <a:prstGeom prst="round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D1F37"/>
                </a:solidFill>
                <a:latin typeface="Aptos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Processa instruções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868680" cy="502920"/>
          </a:xfrm>
          <a:prstGeom prst="round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D1F37"/>
                </a:solidFill>
                <a:latin typeface="Aptos"/>
              </a:rP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Mantém dados temporários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86600" y="1874519"/>
            <a:ext cx="868680" cy="502920"/>
          </a:xfrm>
          <a:prstGeom prst="round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D1F37"/>
                </a:solidFill>
                <a:latin typeface="Aptos"/>
              </a:rPr>
              <a:t>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Processa gráficos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600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75519" y="1874519"/>
            <a:ext cx="868680" cy="502920"/>
          </a:xfrm>
          <a:prstGeom prst="round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39" y="25603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D1F37"/>
                </a:solidFill>
                <a:latin typeface="Aptos"/>
              </a:rPr>
              <a:t>SSD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0632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B6775"/>
                </a:solidFill>
                <a:latin typeface="Aptos"/>
              </a:rPr>
              <a:t>Armazena e fornece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BE4545"/>
                </a:solidFill>
                <a:latin typeface="Aptos"/>
              </a:rPr>
              <a:t>Um NVMe não transforma uma CPU fraca em uma CPU potente.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92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268089"/>
                </a:solidFill>
                <a:latin typeface="Aptos"/>
              </a:rPr>
              <a:t>Ele melhora principalmente tarefas que dependem do acesso ao armazenamento.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 smtClean="0">
                <a:solidFill>
                  <a:srgbClr val="5B6775"/>
                </a:solidFill>
                <a:latin typeface="Aptos"/>
              </a:rPr>
              <a:t>20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Onde o NVMe faz diferença?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Exemplos de tarefas em que o armazenamento pode ser relevante.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8396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00" b="1" dirty="0" smtClean="0">
                <a:solidFill>
                  <a:srgbClr val="1E5B96"/>
                </a:solidFill>
                <a:latin typeface="Aptos"/>
              </a:rPr>
              <a:t>21</a:t>
            </a:r>
            <a:endParaRPr sz="900" b="1" dirty="0">
              <a:solidFill>
                <a:srgbClr val="1E5B9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64592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Jogos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Carregamentos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64592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Vídeo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1226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Arquivos grandes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64008" cy="1645920"/>
          </a:xfrm>
          <a:prstGeom prst="rect">
            <a:avLst/>
          </a:prstGeom>
          <a:solidFill>
            <a:srgbClr val="35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1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Desenvolvimento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1226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Projetos e builds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474720"/>
            <a:ext cx="64008" cy="164592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639312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Bancos de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7822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Muitos acessos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474720"/>
            <a:ext cx="64008" cy="1645920"/>
          </a:xfrm>
          <a:prstGeom prst="rect">
            <a:avLst/>
          </a:prstGeom>
          <a:solidFill>
            <a:srgbClr val="279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639312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7822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Grandes volumes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7472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3474720"/>
            <a:ext cx="64008" cy="164592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3639312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1F37"/>
                </a:solidFill>
                <a:latin typeface="Aptos"/>
              </a:rPr>
              <a:t>Máquinas virtuais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7822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Aptos"/>
              </a:rPr>
              <a:t>I/O intenso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84683"/>
            <a:ext cx="3200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700" b="1" dirty="0" smtClean="0">
                <a:solidFill>
                  <a:srgbClr val="5B6775"/>
                </a:solidFill>
                <a:latin typeface="Aptos"/>
              </a:rPr>
              <a:t>21</a:t>
            </a:r>
            <a:endParaRPr sz="700" b="1" dirty="0">
              <a:solidFill>
                <a:srgbClr val="5B67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D1F37"/>
                </a:solidFill>
                <a:latin typeface="Aptos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94353"/>
            <a:ext cx="102412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 sz="11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E5B96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" y="1473200"/>
            <a:ext cx="3337560" cy="37846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19" y="1764792"/>
            <a:ext cx="91441" cy="3493008"/>
          </a:xfrm>
          <a:prstGeom prst="rect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9371" y="1824597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D1F37"/>
                </a:solidFill>
                <a:latin typeface="Aptos"/>
              </a:rPr>
              <a:t>1 • Evolução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099"/>
            <a:ext cx="2953512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dirty="0">
                <a:solidFill>
                  <a:srgbClr val="5B6775"/>
                </a:solidFill>
                <a:latin typeface="Aptos"/>
              </a:rPr>
              <a:t>O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armazenamento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saiu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soluções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mecânicas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chegou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à </a:t>
            </a:r>
            <a:r>
              <a:rPr sz="1300" b="0" dirty="0" smtClean="0">
                <a:solidFill>
                  <a:srgbClr val="5B6775"/>
                </a:solidFill>
                <a:latin typeface="Aptos"/>
              </a:rPr>
              <a:t>m</a:t>
            </a:r>
            <a:r>
              <a:rPr lang="pt-BR" sz="1300" b="0" dirty="0" err="1" smtClean="0">
                <a:solidFill>
                  <a:srgbClr val="5B6775"/>
                </a:solidFill>
                <a:latin typeface="Aptos"/>
              </a:rPr>
              <a:t>emória</a:t>
            </a:r>
            <a:r>
              <a:rPr sz="1300" b="0" dirty="0" smtClean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Flash de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alta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velocidade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64008" cy="3154680"/>
          </a:xfrm>
          <a:prstGeom prst="rect">
            <a:avLst/>
          </a:prstGeom>
          <a:solidFill>
            <a:srgbClr val="1E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764792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D1F37"/>
                </a:solidFill>
                <a:latin typeface="Aptos"/>
              </a:rPr>
              <a:t>2 • NVMe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106058"/>
            <a:ext cx="2953512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dirty="0">
                <a:solidFill>
                  <a:srgbClr val="5B6775"/>
                </a:solidFill>
                <a:latin typeface="Aptos"/>
              </a:rPr>
              <a:t>O </a:t>
            </a:r>
            <a:r>
              <a:rPr lang="pt-BR" sz="1300" dirty="0" smtClean="0">
                <a:solidFill>
                  <a:srgbClr val="5B6775"/>
                </a:solidFill>
                <a:latin typeface="Aptos"/>
              </a:rPr>
              <a:t>O </a:t>
            </a:r>
            <a:r>
              <a:rPr lang="pt-BR" sz="1300" dirty="0" err="1" smtClean="0">
                <a:solidFill>
                  <a:srgbClr val="5B6775"/>
                </a:solidFill>
                <a:latin typeface="Aptos"/>
              </a:rPr>
              <a:t>NVMe</a:t>
            </a:r>
            <a:r>
              <a:rPr lang="pt-BR" sz="1300" dirty="0" smtClean="0">
                <a:solidFill>
                  <a:srgbClr val="5B6775"/>
                </a:solidFill>
                <a:latin typeface="Aptos"/>
              </a:rPr>
              <a:t> foi projetado para </a:t>
            </a:r>
            <a:r>
              <a:rPr lang="pt-BR" sz="1300" dirty="0" err="1" smtClean="0">
                <a:solidFill>
                  <a:srgbClr val="5B6775"/>
                </a:solidFill>
                <a:latin typeface="Aptos"/>
              </a:rPr>
              <a:t>SSDs</a:t>
            </a:r>
            <a:r>
              <a:rPr lang="pt-BR" sz="1300" dirty="0" smtClean="0">
                <a:solidFill>
                  <a:srgbClr val="5B6775"/>
                </a:solidFill>
                <a:latin typeface="Aptos"/>
              </a:rPr>
              <a:t> e aproveita melhor o </a:t>
            </a:r>
            <a:r>
              <a:rPr lang="pt-BR" sz="1300" dirty="0" err="1" smtClean="0">
                <a:solidFill>
                  <a:srgbClr val="5B6775"/>
                </a:solidFill>
                <a:latin typeface="Aptos"/>
              </a:rPr>
              <a:t>PCIe</a:t>
            </a:r>
            <a:r>
              <a:rPr lang="pt-BR" sz="1300" dirty="0" smtClean="0">
                <a:solidFill>
                  <a:srgbClr val="5B6775"/>
                </a:solidFill>
                <a:latin typeface="Aptos"/>
              </a:rPr>
              <a:t>, permitindo maior paralelismo e menor latência</a:t>
            </a:r>
            <a:r>
              <a:rPr sz="1300" b="0" dirty="0" smtClean="0">
                <a:solidFill>
                  <a:srgbClr val="5B6775"/>
                </a:solidFill>
                <a:latin typeface="Aptos"/>
              </a:rPr>
              <a:t>.</a:t>
            </a:r>
            <a:endParaRPr sz="13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3154680"/>
          </a:xfrm>
          <a:prstGeom prst="rect">
            <a:avLst/>
          </a:prstGeom>
          <a:solidFill>
            <a:srgbClr val="268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98579"/>
            <a:ext cx="297180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>
                <a:solidFill>
                  <a:srgbClr val="0D1F37"/>
                </a:solidFill>
                <a:latin typeface="Aptos"/>
              </a:rPr>
              <a:t>3 • </a:t>
            </a:r>
            <a:r>
              <a:rPr lang="pt-BR" sz="1700" b="1" dirty="0" smtClean="0">
                <a:solidFill>
                  <a:srgbClr val="0D1F37"/>
                </a:solidFill>
                <a:latin typeface="Aptos"/>
              </a:rPr>
              <a:t>Na Prática</a:t>
            </a:r>
            <a:endParaRPr sz="1700" b="1" dirty="0">
              <a:solidFill>
                <a:srgbClr val="0D1F3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47888" y="3006031"/>
            <a:ext cx="2953512" cy="8002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300" dirty="0" smtClean="0">
                <a:solidFill>
                  <a:srgbClr val="5B6775"/>
                </a:solidFill>
                <a:latin typeface="Aptos"/>
              </a:rPr>
              <a:t>O </a:t>
            </a:r>
            <a:r>
              <a:rPr lang="pt-BR" sz="1300" dirty="0" err="1" smtClean="0">
                <a:solidFill>
                  <a:srgbClr val="5B6775"/>
                </a:solidFill>
                <a:latin typeface="Aptos"/>
              </a:rPr>
              <a:t>Nvme</a:t>
            </a:r>
            <a:r>
              <a:rPr lang="pt-BR" sz="1300" dirty="0" smtClean="0">
                <a:solidFill>
                  <a:srgbClr val="5B6775"/>
                </a:solidFill>
                <a:latin typeface="Aptos"/>
              </a:rPr>
              <a:t> tem </a:t>
            </a:r>
            <a:r>
              <a:rPr sz="1300" b="0" dirty="0" err="1" smtClean="0">
                <a:solidFill>
                  <a:srgbClr val="5B6775"/>
                </a:solidFill>
                <a:latin typeface="Aptos"/>
              </a:rPr>
              <a:t>Menos</a:t>
            </a:r>
            <a:r>
              <a:rPr sz="1300" b="0" dirty="0" smtClean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B6775"/>
                </a:solidFill>
                <a:latin typeface="Aptos"/>
              </a:rPr>
              <a:t>espera</a:t>
            </a:r>
            <a:r>
              <a:rPr sz="1300" b="0" dirty="0">
                <a:solidFill>
                  <a:srgbClr val="5B6775"/>
                </a:solidFill>
                <a:latin typeface="Aptos"/>
              </a:rPr>
              <a:t> </a:t>
            </a:r>
            <a:r>
              <a:rPr sz="1300" b="0" dirty="0" err="1" smtClean="0">
                <a:solidFill>
                  <a:srgbClr val="5B6775"/>
                </a:solidFill>
                <a:latin typeface="Aptos"/>
              </a:rPr>
              <a:t>pelo</a:t>
            </a:r>
            <a:r>
              <a:rPr lang="pt-BR" sz="1300" b="0" dirty="0" smtClean="0">
                <a:solidFill>
                  <a:srgbClr val="5B6775"/>
                </a:solidFill>
                <a:latin typeface="Aptos"/>
              </a:rPr>
              <a:t>s dados pode deixar o computador mais responsivo em tarefas que dependem do armazenamento</a:t>
            </a:r>
            <a:endParaRPr sz="1300" b="0" dirty="0">
              <a:solidFill>
                <a:srgbClr val="5B677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dirty="0" err="1">
                <a:solidFill>
                  <a:srgbClr val="0D1F37"/>
                </a:solidFill>
                <a:latin typeface="Aptos"/>
              </a:rPr>
              <a:t>Armazenar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 dados é </a:t>
            </a:r>
            <a:r>
              <a:rPr sz="1700" b="1" dirty="0" err="1">
                <a:solidFill>
                  <a:srgbClr val="0D1F37"/>
                </a:solidFill>
                <a:latin typeface="Aptos"/>
              </a:rPr>
              <a:t>necessário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. </a:t>
            </a:r>
            <a:r>
              <a:rPr sz="1700" b="1" dirty="0" err="1">
                <a:solidFill>
                  <a:srgbClr val="0D1F37"/>
                </a:solidFill>
                <a:latin typeface="Aptos"/>
              </a:rPr>
              <a:t>Entregá-los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D1F37"/>
                </a:solidFill>
                <a:latin typeface="Aptos"/>
              </a:rPr>
              <a:t>rapidamente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D1F37"/>
                </a:solidFill>
                <a:latin typeface="Aptos"/>
              </a:rPr>
              <a:t>também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 é parte do </a:t>
            </a:r>
            <a:r>
              <a:rPr sz="1700" b="1" dirty="0" err="1">
                <a:solidFill>
                  <a:srgbClr val="0D1F37"/>
                </a:solidFill>
                <a:latin typeface="Aptos"/>
              </a:rPr>
              <a:t>desempenho</a:t>
            </a:r>
            <a:r>
              <a:rPr sz="1700" b="1" dirty="0">
                <a:solidFill>
                  <a:srgbClr val="0D1F37"/>
                </a:solidFill>
                <a:latin typeface="Aptos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10528"/>
            <a:ext cx="1088136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775"/>
                </a:solidFill>
                <a:latin typeface="Aptos"/>
              </a:rPr>
              <a:t>Micro-seminário • Armazenamento e SSDs NVMe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4710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>
                <a:solidFill>
                  <a:srgbClr val="5B6775"/>
                </a:solidFill>
                <a:latin typeface="Aptos"/>
              </a:rPr>
              <a:t>21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901779" y="3579897"/>
            <a:ext cx="3198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solidFill>
                  <a:srgbClr val="5B6775"/>
                </a:solidFill>
                <a:latin typeface="Aptos"/>
              </a:rPr>
              <a:t>Cartão – Fita – Disquete – </a:t>
            </a:r>
            <a:r>
              <a:rPr lang="pt-BR" sz="1200" dirty="0" err="1">
                <a:solidFill>
                  <a:srgbClr val="5B6775"/>
                </a:solidFill>
                <a:latin typeface="Aptos"/>
              </a:rPr>
              <a:t>H</a:t>
            </a:r>
            <a:r>
              <a:rPr lang="pt-BR" sz="1200" dirty="0" err="1" smtClean="0">
                <a:solidFill>
                  <a:srgbClr val="5B6775"/>
                </a:solidFill>
                <a:latin typeface="Aptos"/>
              </a:rPr>
              <a:t>d</a:t>
            </a:r>
            <a:r>
              <a:rPr lang="pt-BR" sz="1200" dirty="0" smtClean="0">
                <a:solidFill>
                  <a:srgbClr val="5B6775"/>
                </a:solidFill>
                <a:latin typeface="Aptos"/>
              </a:rPr>
              <a:t> – </a:t>
            </a:r>
            <a:r>
              <a:rPr lang="pt-BR" sz="1200" dirty="0" err="1">
                <a:solidFill>
                  <a:srgbClr val="5B6775"/>
                </a:solidFill>
                <a:latin typeface="Aptos"/>
              </a:rPr>
              <a:t>S</a:t>
            </a:r>
            <a:r>
              <a:rPr lang="pt-BR" sz="1200" dirty="0" err="1" smtClean="0">
                <a:solidFill>
                  <a:srgbClr val="5B6775"/>
                </a:solidFill>
                <a:latin typeface="Aptos"/>
              </a:rPr>
              <a:t>sd</a:t>
            </a:r>
            <a:r>
              <a:rPr lang="pt-BR" sz="1200" dirty="0" smtClean="0">
                <a:solidFill>
                  <a:srgbClr val="5B6775"/>
                </a:solidFill>
                <a:latin typeface="Aptos"/>
              </a:rPr>
              <a:t> -</a:t>
            </a:r>
            <a:r>
              <a:rPr lang="pt-BR" sz="1200" dirty="0" err="1">
                <a:solidFill>
                  <a:srgbClr val="5B6775"/>
                </a:solidFill>
                <a:latin typeface="Aptos"/>
              </a:rPr>
              <a:t>N</a:t>
            </a:r>
            <a:r>
              <a:rPr lang="pt-BR" sz="1200" dirty="0" err="1" smtClean="0">
                <a:solidFill>
                  <a:srgbClr val="5B6775"/>
                </a:solidFill>
                <a:latin typeface="Aptos"/>
              </a:rPr>
              <a:t>vme</a:t>
            </a:r>
            <a:endParaRPr lang="pt-BR" sz="1200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940247" y="4471473"/>
            <a:ext cx="2923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5B6775"/>
                </a:solidFill>
                <a:latin typeface="Aptos"/>
              </a:rPr>
              <a:t>Menos partes mecânicas, menor latência e mais velocidade</a:t>
            </a:r>
            <a:endParaRPr lang="pt-BR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Fontes para consulta e para a bibliografia do trabalho.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389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AABED2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IBM — história dos cartões perfurados e processamento de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Crucial / Micron — documentação e especificações de SSDs SATA.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NVMe Express — informações sobre o protocolo NVMe.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59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PCI-SIG — informações sobre a interface PCI Express.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Unsplash / Pexels — fotografias ilustrativas de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59893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96AFC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82880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74320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79CB2"/>
                </a:solidFill>
                <a:latin typeface="Aptos"/>
              </a:rPr>
              <a:t>Perguntas?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65760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ED2E1"/>
                </a:solidFill>
                <a:latin typeface="Aptos"/>
              </a:rPr>
              <a:t>A evolução do armazenamento continua — e o objetivo é sempre reduzir a espera pelos dados.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59893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96AFC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563123" y="2201663"/>
            <a:ext cx="58947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 smtClean="0"/>
              <a:t>QUIZ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6247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</TotalTime>
  <Words>1262</Words>
  <Application>Microsoft Office PowerPoint</Application>
  <PresentationFormat>Widescreen</PresentationFormat>
  <Paragraphs>248</Paragraphs>
  <Slides>26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ale</dc:creator>
  <cp:keywords/>
  <dc:description>generated using python-pptx</dc:description>
  <cp:lastModifiedBy>ale</cp:lastModifiedBy>
  <cp:revision>33</cp:revision>
  <cp:lastPrinted>2026-08-20T17:46:53Z</cp:lastPrinted>
  <dcterms:created xsi:type="dcterms:W3CDTF">2013-01-27T09:14:16Z</dcterms:created>
  <dcterms:modified xsi:type="dcterms:W3CDTF">2026-08-20T19:31:13Z</dcterms:modified>
  <cp:category/>
</cp:coreProperties>
</file>